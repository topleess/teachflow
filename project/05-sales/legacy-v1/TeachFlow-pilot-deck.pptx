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each-flow.as-shamshurin.xyz" TargetMode="External"/><Relationship Id="rId2" Type="http://schemas.openxmlformats.org/officeDocument/2006/relationships/hyperlink" Target="https://t.me/ShamshurinA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498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Весь путь ученика.</a:t>
            </a:r>
            <a:endParaRPr lang="en-US" sz="4900" dirty="0"/>
          </a:p>
          <a:p>
            <a:pPr indent="0" marL="0">
              <a:buNone/>
            </a:pPr>
            <a:r>
              <a:rPr lang="en-US" sz="49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одном месте.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713232" y="33375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1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пространство для онлайн-преподавателей и небольших школ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120000">
            <a:off x="7863840" y="105156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DFA147"/>
          </a:solidFill>
          <a:ln w="12700">
            <a:solidFill>
              <a:srgbClr val="DFA1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5"/>
                </a:solidFill>
              </a:rPr>
              <a:t>УЧЕНИК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1874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</a:rPr>
              <a:t>Максим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</a:rPr>
              <a:t>Цель: уверенная речь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0" y="292608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0" y="3108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5"/>
                </a:solidFill>
              </a:rPr>
              <a:t>Интерактивный урок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3703320"/>
            <a:ext cx="2606040" cy="594360"/>
          </a:xfrm>
          <a:prstGeom prst="roundRect">
            <a:avLst>
              <a:gd name="adj" fmla="val 7692"/>
            </a:avLst>
          </a:prstGeom>
          <a:solidFill>
            <a:srgbClr val="6F9688"/>
          </a:solidFill>
          <a:ln w="12700">
            <a:solidFill>
              <a:srgbClr val="6F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3886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5"/>
                </a:solidFill>
              </a:rPr>
              <a:t>Домашняя практика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</a:rPr>
              <a:t>Концепция пилота ·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7AF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9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Сегодня онлайн-урок распадается на сервисы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64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 вручную соединяет инструменты, материалы и историю ученика.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45D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328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5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862072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Созвон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447288"/>
            <a:ext cx="20939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Отдельная ссылка и отдельное окно. Контекст занятия остаётся вне звонка.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7288" y="2331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DED7C7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5328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5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2862072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3447288"/>
            <a:ext cx="20939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презентации, документы и ссылки хранятся в разных местах.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233172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6F9688"/>
          </a:solidFill>
          <a:ln w="12700">
            <a:solidFill>
              <a:srgbClr val="6F96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328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5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862072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447288"/>
            <a:ext cx="20939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Доска и упражнения не связаны с карточкой и прогрессом ученика.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25128" y="233172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DFA147"/>
          </a:solidFill>
          <a:ln w="12700">
            <a:solidFill>
              <a:srgbClr val="DFA1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5328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1915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81160" y="2862072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Домашняя работа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81160" y="3447288"/>
            <a:ext cx="200253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Задания и ответы теряются в чатах, файлах и переписке.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A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9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TeachFlow связывает процесс в один сценарий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64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ещё одна папка с материалами, а единое рабочее пространство преподавателя.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45D"/>
                </a:solidFill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514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45D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5"/>
                </a:solidFill>
              </a:rPr>
              <a:t>Вести ученика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97680" y="248716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45D"/>
                </a:solidFill>
              </a:rPr>
              <a:t>цели, заметки и история занятий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154680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3375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45D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5"/>
                </a:solidFill>
              </a:rPr>
              <a:t>Собрать урок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97680" y="331012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45D"/>
                </a:solidFill>
              </a:rPr>
              <a:t>материалы и интерактивные задания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977640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191915"/>
          </a:solidFill>
          <a:ln w="12700">
            <a:solidFill>
              <a:srgbClr val="1919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160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DF8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4114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DF8"/>
                </a:solidFill>
              </a:rPr>
              <a:t>Провести вместе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413308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6BF"/>
                </a:solidFill>
              </a:rPr>
              <a:t>единый экран для преподавателя и ученика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4800600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9834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5645D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4937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5"/>
                </a:solidFill>
              </a:rPr>
              <a:t>Продолжить дома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297680" y="495604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45D"/>
                </a:solidFill>
              </a:rPr>
              <a:t>сохранённый результат и практика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9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Главный сценарий продукта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64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связанный цикл вместо набора несвязанных функций.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45D"/>
                </a:solidFill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1325880" cy="1325880"/>
          </a:xfrm>
          <a:prstGeom prst="ellipse">
            <a:avLst/>
          </a:prstGeom>
          <a:solidFill>
            <a:srgbClr val="FFFDF8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5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40050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Создать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ученика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50008" y="2834640"/>
            <a:ext cx="411480" cy="411480"/>
          </a:xfrm>
          <a:prstGeom prst="chevron">
            <a:avLst/>
          </a:prstGeom>
          <a:solidFill>
            <a:srgbClr val="DF654B"/>
          </a:solidFill>
          <a:ln w="12700">
            <a:solidFill>
              <a:srgbClr val="DF65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423160"/>
            <a:ext cx="1325880" cy="1325880"/>
          </a:xfrm>
          <a:prstGeom prst="ellipse">
            <a:avLst/>
          </a:prstGeom>
          <a:solidFill>
            <a:srgbClr val="DED7C7"/>
          </a:solidFill>
          <a:ln w="12700">
            <a:solidFill>
              <a:srgbClr val="DED7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5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40050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Собрать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урок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36008" y="2834640"/>
            <a:ext cx="411480" cy="411480"/>
          </a:xfrm>
          <a:prstGeom prst="chevron">
            <a:avLst/>
          </a:prstGeom>
          <a:solidFill>
            <a:srgbClr val="DF654B"/>
          </a:solidFill>
          <a:ln w="12700">
            <a:solidFill>
              <a:srgbClr val="DF65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2423160"/>
            <a:ext cx="1325880" cy="1325880"/>
          </a:xfrm>
          <a:prstGeom prst="ellipse">
            <a:avLst/>
          </a:prstGeom>
          <a:solidFill>
            <a:srgbClr val="DFA147"/>
          </a:solidFill>
          <a:ln w="12700">
            <a:solidFill>
              <a:srgbClr val="DFA1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5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74920" y="40050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Назначить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занятие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22008" y="2834640"/>
            <a:ext cx="411480" cy="411480"/>
          </a:xfrm>
          <a:prstGeom prst="chevron">
            <a:avLst/>
          </a:prstGeom>
          <a:solidFill>
            <a:srgbClr val="DF654B"/>
          </a:solidFill>
          <a:ln w="12700">
            <a:solidFill>
              <a:srgbClr val="DF65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2423160"/>
            <a:ext cx="1325880" cy="1325880"/>
          </a:xfrm>
          <a:prstGeom prst="ellipse">
            <a:avLst/>
          </a:prstGeom>
          <a:solidFill>
            <a:srgbClr val="191915"/>
          </a:solidFill>
          <a:ln w="12700">
            <a:solidFill>
              <a:srgbClr val="1919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8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60920" y="40050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Пройти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вместе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08008" y="2834640"/>
            <a:ext cx="411480" cy="411480"/>
          </a:xfrm>
          <a:prstGeom prst="chevron">
            <a:avLst/>
          </a:prstGeom>
          <a:solidFill>
            <a:srgbClr val="DF654B"/>
          </a:solidFill>
          <a:ln w="12700">
            <a:solidFill>
              <a:srgbClr val="DF65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2423160"/>
            <a:ext cx="1325880" cy="1325880"/>
          </a:xfrm>
          <a:prstGeom prst="ellipse">
            <a:avLst/>
          </a:prstGeom>
          <a:solidFill>
            <a:srgbClr val="6F9688"/>
          </a:solidFill>
          <a:ln w="12700">
            <a:solidFill>
              <a:srgbClr val="6F96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05872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5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46920" y="40050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Сохранить 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91915"/>
                </a:solidFill>
              </a:rPr>
              <a:t>дать практику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D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9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кого начинаем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64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рынок достаточно узкий для проверки, но не ограничен одним предметом.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45D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770632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Частные репетиторы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3355848"/>
            <a:ext cx="28254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Ведут занятия онлайн, сами готовят материалы и общаются с учениками напрямую.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24028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DFA147"/>
          </a:solidFill>
          <a:ln w="12700">
            <a:solidFill>
              <a:srgbClr val="DFA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2770632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Небольшие онлайн-школы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72584" y="3355848"/>
            <a:ext cx="28254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Нуждаются в едином стандарте уроков и прозрачной работе преподавателей.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55864" y="2240280"/>
            <a:ext cx="3337560" cy="3154680"/>
          </a:xfrm>
          <a:prstGeom prst="roundRect">
            <a:avLst>
              <a:gd name="adj" fmla="val 2319"/>
            </a:avLst>
          </a:prstGeom>
          <a:solidFill>
            <a:srgbClr val="6F9688"/>
          </a:solidFill>
          <a:ln w="12700">
            <a:solidFill>
              <a:srgbClr val="6F96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2770632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Методисты и авторы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11896" y="3355848"/>
            <a:ext cx="282549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Создают учебные сценарии и передают их преподавателям или ученикам.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проверяем в пилоте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продаём “готовую большую платформу”. Проверяем, какой минимальный сценарий действительно нужен.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7AF"/>
                </a:solidFill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A147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DF8"/>
                </a:solidFill>
              </a:rPr>
              <a:t>Проблема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20440" y="2148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6BF"/>
                </a:solidFill>
              </a:rPr>
              <a:t>Какие части урока сейчас отнимают больше всего времени?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729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A147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DF8"/>
                </a:solidFill>
              </a:rPr>
              <a:t>Поведение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20440" y="3081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6BF"/>
                </a:solidFill>
              </a:rPr>
              <a:t>Какими сервисами пользуются и что между ними приходится переносить вручную?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056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A147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DF8"/>
                </a:solidFill>
              </a:rPr>
              <a:t>Ценность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20440" y="401421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6BF"/>
                </a:solidFill>
              </a:rPr>
              <a:t>За какую связку функций преподаватель или школа готовы менять процесс?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03834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FA147"/>
                </a:solidFill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49469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DF8"/>
                </a:solidFill>
              </a:rPr>
              <a:t>Формат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520440" y="49469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C6BF"/>
                </a:solidFill>
              </a:rPr>
              <a:t>Какой пилот можно пройти на реальных занятиях без долгого внедрения?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9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получает пилотный партнёр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64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первого разговора и совместной проверки.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45D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DFA147"/>
          </a:solidFill>
          <a:ln w="12700">
            <a:solidFill>
              <a:srgbClr val="DFA1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770632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процесса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3355848"/>
            <a:ext cx="282549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Короткое интервью о подготовке, проведении урока и работе после него.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24028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2770632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концепции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72584" y="3355848"/>
            <a:ext cx="282549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Показываем сценарий TeachFlow и сопоставляем его с реальной практикой.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55864" y="224028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6F9688"/>
          </a:solidFill>
          <a:ln w="12700">
            <a:solidFill>
              <a:srgbClr val="6F96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2770632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Влияние на продукт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11896" y="3355848"/>
            <a:ext cx="282549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Фиксируем нужный минимум для пилота и приглашаем к ранней проверке.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A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TeachFlow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9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Следующий шаг — 30 минут разговора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64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важен ваш реальный процесс, а не “правильные” ответы.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09960" y="64282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645D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5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5"/>
                </a:solidFill>
              </a:rPr>
              <a:t>Покажем TeachFlow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0" y="2377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5"/>
                </a:solidFill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5"/>
                </a:solidFill>
              </a:rPr>
              <a:t>Разберём ваш урок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0" y="2377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5"/>
                </a:solidFill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9611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5"/>
                </a:solidFill>
              </a:rPr>
              <a:t>Определим пилот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474720" y="3977640"/>
            <a:ext cx="5257800" cy="960120"/>
          </a:xfrm>
          <a:prstGeom prst="roundRect">
            <a:avLst>
              <a:gd name="adj" fmla="val 4762"/>
            </a:avLst>
          </a:prstGeom>
          <a:solidFill>
            <a:srgbClr val="191915"/>
          </a:solidFill>
          <a:ln w="12700">
            <a:solidFill>
              <a:srgbClr val="191915"/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3822192" y="4279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u="sng" dirty="0">
                <a:solidFill>
                  <a:srgbClr val="FFFDF8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teach-flow.as-shamshurin.xyz</a:t>
            </a:r>
            <a:endParaRPr lang="en-US" sz="190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4160520" y="5230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191915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Telegram: @ShamshurinAS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TeachFlow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TeachFlow — рабочее пространство онлайн-преподавателя</dc:title>
  <dc:subject>Пилот TeachFlow</dc:subject>
  <dc:creator>TeachFlow</dc:creator>
  <cp:lastModifiedBy>TeachFlow</cp:lastModifiedBy>
  <cp:revision>1</cp:revision>
  <dcterms:created xsi:type="dcterms:W3CDTF">2026-07-19T17:16:35Z</dcterms:created>
  <dcterms:modified xsi:type="dcterms:W3CDTF">2026-07-19T17:16:35Z</dcterms:modified>
</cp:coreProperties>
</file>